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Anticiper les annulations — Résidences Azur</a:t>
            </a:r>
          </a:p>
          <a:p>
            <a:r>
              <a:rPr sz="1400">
                <a:solidFill>
                  <a:srgbClr val="333333"/>
                </a:solidFill>
              </a:rPr>
              <a:t>Groupe 4 — Clément Bastien, Romain Liénard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Contexte : 1 séjour sur 3 annulé, souvent tardivement</a:t>
            </a:r>
          </a:p>
          <a:p>
            <a:pPr/>
            <a:r>
              <a:rPr sz="2000"/>
              <a:t>• Objectif : estimer P(annulation) à l'enregistrement de la réservation</a:t>
            </a:r>
          </a:p>
          <a:p>
            <a:pPr/>
            <a:r>
              <a:rPr sz="2000"/>
              <a:t>• Décision métier : appeler les dossiers à risque (appel 6 €, annulation évitée ≈ 100 €, efficacité 1/3)</a:t>
            </a:r>
          </a:p>
          <a:p>
            <a:pPr lvl="1"/>
            <a:r>
              <a:rPr sz="1600"/>
              <a:t>– Seuil économique : p &gt; 6 / (100/3) = 0,18</a:t>
            </a:r>
          </a:p>
          <a:p>
            <a:pPr/>
            <a:r>
              <a:rPr sz="2000"/>
              <a:t>• Métrique principale : AUPRC (classe minoritaire 33 %, accuracy trompeuse)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Audit des variables : la fuite d'information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Fuite écartée : statut_dossier prédit annule à 100 % (statut final)</a:t>
            </a:r>
          </a:p>
          <a:p>
            <a:pPr/>
            <a:r>
              <a:rPr sz="2000"/>
              <a:t>• jours_attente_confirmation et date_statut : pas encore connus à la réservation</a:t>
            </a:r>
          </a:p>
          <a:p>
            <a:pPr/>
            <a:r>
              <a:rPr sz="2000"/>
              <a:t>• id_reservation : identifiant sans valeur prédictive</a:t>
            </a:r>
          </a:p>
          <a:p>
            <a:pPr/>
            <a:r>
              <a:rPr sz="2000"/>
              <a:t>• id_entreprise : 94 % vide ; code_promo : modalités trop rares</a:t>
            </a:r>
          </a:p>
          <a:p>
            <a:pPr/>
            <a:r>
              <a:rPr sz="2000"/>
              <a:t>• Règle : on ne garde que ce qui est connu à l'instant de la réservation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Exploration : les constats qui guident la 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Délai de réservation dominant : 6 % d'annulations le jour même → 64 % au-delà d'un an</a:t>
            </a:r>
          </a:p>
          <a:p>
            <a:pPr/>
            <a:r>
              <a:rPr sz="2000"/>
              <a:t>• garantie « non remboursable » ≈ 99 % d'annulations (artefact de données probable)</a:t>
            </a:r>
          </a:p>
          <a:p>
            <a:pPr/>
            <a:r>
              <a:rPr sz="2000"/>
              <a:t>• Via agence : 34,9 % d'annulations vs 21,5 % en direct</a:t>
            </a:r>
          </a:p>
          <a:p>
            <a:pPr/>
            <a:r>
              <a:rPr sz="2000"/>
              <a:t>• 28 204 lignes identiques hors identifiant → dédoublonnées</a:t>
            </a:r>
          </a:p>
          <a:p>
            <a:pPr/>
            <a:r>
              <a:rPr sz="2000"/>
              <a:t>• Valeurs impossibles : tarif_nuit −8 € et 6 372 € → borné [0, 500]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Variables dérivées (features.py)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delai_jours = date_arrivee − date_reservation, borné [0, 731] → facteur n°1</a:t>
            </a:r>
          </a:p>
          <a:p>
            <a:pPr/>
            <a:r>
              <a:rPr sz="2000"/>
              <a:t>• mois_arrivee, jour_semaine_arrivee → saisonnalité</a:t>
            </a:r>
          </a:p>
          <a:p>
            <a:pPr/>
            <a:r>
              <a:rPr sz="2000"/>
              <a:t>• nuits_total, nb_personnes → taille du séjour</a:t>
            </a:r>
          </a:p>
          <a:p>
            <a:pPr/>
            <a:r>
              <a:rPr sz="2000"/>
              <a:t>• meme_logement, via_agence, pays_groupe (top 10 + Autre)</a:t>
            </a:r>
          </a:p>
          <a:p>
            <a:pPr/>
            <a:r>
              <a:rPr sz="2000"/>
              <a:t>• Effet : +0,05 d'AUPRC pour la régression logistique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Modélisation par paliers (même découpage, AUPRC)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L'arbre illimité et la forêt mémorisent (train 1,00) sans généraliser</a:t>
            </a:r>
          </a:p>
          <a:p>
            <a:pPr/>
            <a:r>
              <a:rPr sz="2000"/>
              <a:t>• Boosting ≈ logistique au test ; on retient la logistique :</a:t>
            </a:r>
          </a:p>
          <a:p>
            <a:pPr lvl="1"/>
            <a:r>
              <a:rPr sz="1600"/>
              <a:t>– performance égale, train ≈ test (pas de sur-apprentissage), coefficients interprétables</a:t>
            </a:r>
          </a:p>
        </p:txBody>
      </p:sp>
      <p:pic>
        <p:nvPicPr>
          <p:cNvPr id="4" name="Picture 3" descr="echelle_meth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743200"/>
            <a:ext cx="9326880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Évaluation : un protocole honnête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Découpage chronologique sur date_arrivee (coupure 2023-05-01) : on prédit le futur</a:t>
            </a:r>
          </a:p>
          <a:p>
            <a:pPr/>
            <a:r>
              <a:rPr sz="2000"/>
              <a:t>• AUPRC test 0,61 vs baseline 0,31 — AUC 0,81 — train 0,64 : pas de sur-apprentissage</a:t>
            </a:r>
          </a:p>
          <a:p>
            <a:pPr/>
            <a:r>
              <a:rPr sz="2000"/>
              <a:t>• Seuil 0,18 → ~7 900 appels sur 16 815 dossiers de test, gain espéré ~83 k€</a:t>
            </a:r>
          </a:p>
          <a:p>
            <a:pPr/>
            <a:r>
              <a:rPr sz="2000"/>
              <a:t>• Variables influentes (permutation) : délai, garantie, historique, canal, fidélité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A8F"/>
                </a:solidFill>
              </a:rPr>
              <a:t>Mise en production, démo et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• model.pkl : pipeline entier (features + préparation + modèle), chargé 1× au démarrage</a:t>
            </a:r>
          </a:p>
          <a:p>
            <a:pPr/>
            <a:r>
              <a:rPr sz="2000"/>
              <a:t>• app.py (Gradio) : 10 champs, curseur de seuil ; api.py (FastAPI) : POST /predict, 422</a:t>
            </a:r>
          </a:p>
          <a:p>
            <a:pPr/>
            <a:r>
              <a:rPr sz="2000"/>
              <a:t>• Tests pytest : proba ∈ [0,1], entrée invalide refusée, API 200/422</a:t>
            </a:r>
          </a:p>
          <a:p>
            <a:pPr/>
            <a:r>
              <a:rPr sz="2000"/>
              <a:t>• Limites : dérive du taux d'annulation, garantie = artefact ?, équité pays_client</a:t>
            </a:r>
          </a:p>
          <a:p>
            <a:pPr/>
            <a:r>
              <a:rPr sz="2000"/>
              <a:t>• Avec plus de temps : calibration des probabilités, LightGBM, MLP, CV d'hyperparamètres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